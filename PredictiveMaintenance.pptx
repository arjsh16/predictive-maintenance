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164592" y="2971800"/>
            <a:ext cx="5029201" cy="64008"/>
          </a:xfrm>
          <a:prstGeom prst="rect">
            <a:avLst/>
          </a:prstGeom>
          <a:solidFill>
            <a:srgbClr val="E9C46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Text 2"/>
          <p:cNvSpPr txBox="1"/>
          <p:nvPr/>
        </p:nvSpPr>
        <p:spPr>
          <a:xfrm>
            <a:off x="457200" y="420369"/>
            <a:ext cx="822960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PREDICTIVE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457200" y="1334769"/>
            <a:ext cx="822960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MAINTENANCE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02919" y="2585393"/>
            <a:ext cx="72237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solidFill>
                  <a:srgbClr val="E9C46A"/>
                </a:solidFill>
              </a:defRPr>
            </a:lvl1pPr>
          </a:lstStyle>
          <a:p>
            <a:r>
              <a:t>Industrial Equipment Failure Detection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287020" y="3274791"/>
            <a:ext cx="8138160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i="1">
                <a:solidFill>
                  <a:srgbClr val="00A896"/>
                </a:solidFill>
              </a:defRPr>
            </a:lvl1pPr>
          </a:lstStyle>
          <a:p>
            <a:r>
              <a:rPr dirty="0"/>
              <a:t>Models: Logistic Regression  •  Gaussian NB  •  Random Forest (PCA)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02919" y="4011098"/>
            <a:ext cx="6309361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/>
            </a:pPr>
            <a:r>
              <a:t>BY:  ANSH DESHWAL     PES1UG23EC046</a:t>
            </a:r>
          </a:p>
          <a:p>
            <a:pPr>
              <a:defRPr sz="1300"/>
            </a:pPr>
            <a:r>
              <a:t>      ARCHI                         PES1UG23EC053</a:t>
            </a:r>
          </a:p>
          <a:p>
            <a:pPr>
              <a:defRPr sz="1300"/>
            </a:pPr>
            <a:r>
              <a:t>      ARJUN SHARMA       PES1UG23EC054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6903719" y="228644"/>
            <a:ext cx="20116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 b="1">
                <a:solidFill>
                  <a:srgbClr val="028090"/>
                </a:solidFill>
              </a:defRPr>
            </a:lvl1pPr>
          </a:lstStyle>
          <a:p>
            <a:r>
              <a:t>ML JACKFRUIT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" name="Text 1"/>
          <p:cNvSpPr txBox="1"/>
          <p:nvPr/>
        </p:nvSpPr>
        <p:spPr>
          <a:xfrm>
            <a:off x="411479" y="1240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Outline</a:t>
            </a:r>
          </a:p>
        </p:txBody>
      </p:sp>
      <p:sp>
        <p:nvSpPr>
          <p:cNvPr id="31" name="Shape 2"/>
          <p:cNvSpPr/>
          <p:nvPr/>
        </p:nvSpPr>
        <p:spPr>
          <a:xfrm>
            <a:off x="146826" y="1039668"/>
            <a:ext cx="429768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2" name="Shape 3"/>
          <p:cNvSpPr/>
          <p:nvPr/>
        </p:nvSpPr>
        <p:spPr>
          <a:xfrm>
            <a:off x="146826" y="1039668"/>
            <a:ext cx="502920" cy="86868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ext 4"/>
          <p:cNvSpPr txBox="1"/>
          <p:nvPr/>
        </p:nvSpPr>
        <p:spPr>
          <a:xfrm>
            <a:off x="192546" y="1317311"/>
            <a:ext cx="41148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01</a:t>
            </a:r>
          </a:p>
        </p:txBody>
      </p:sp>
      <p:sp>
        <p:nvSpPr>
          <p:cNvPr id="34" name="Text 5"/>
          <p:cNvSpPr txBox="1"/>
          <p:nvPr/>
        </p:nvSpPr>
        <p:spPr>
          <a:xfrm>
            <a:off x="741186" y="1184887"/>
            <a:ext cx="36118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D1B2A"/>
                </a:solidFill>
              </a:defRPr>
            </a:lvl1pPr>
          </a:lstStyle>
          <a:p>
            <a:r>
              <a:t>Abstract &amp; Scope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741186" y="1570064"/>
            <a:ext cx="36118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r>
              <a:t>Problem statement, dataset, and goals</a:t>
            </a:r>
          </a:p>
        </p:txBody>
      </p:sp>
      <p:sp>
        <p:nvSpPr>
          <p:cNvPr id="36" name="Shape 7"/>
          <p:cNvSpPr/>
          <p:nvPr/>
        </p:nvSpPr>
        <p:spPr>
          <a:xfrm>
            <a:off x="4673105" y="1039668"/>
            <a:ext cx="4297681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" name="Shape 8"/>
          <p:cNvSpPr/>
          <p:nvPr/>
        </p:nvSpPr>
        <p:spPr>
          <a:xfrm>
            <a:off x="4673105" y="1039668"/>
            <a:ext cx="502920" cy="86868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Text 9"/>
          <p:cNvSpPr txBox="1"/>
          <p:nvPr/>
        </p:nvSpPr>
        <p:spPr>
          <a:xfrm>
            <a:off x="4718826" y="1317311"/>
            <a:ext cx="41148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02</a:t>
            </a:r>
          </a:p>
        </p:txBody>
      </p:sp>
      <p:sp>
        <p:nvSpPr>
          <p:cNvPr id="39" name="Text 10"/>
          <p:cNvSpPr txBox="1"/>
          <p:nvPr/>
        </p:nvSpPr>
        <p:spPr>
          <a:xfrm>
            <a:off x="5267466" y="1184887"/>
            <a:ext cx="36118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D1B2A"/>
                </a:solidFill>
              </a:defRPr>
            </a:lvl1pPr>
          </a:lstStyle>
          <a:p>
            <a:r>
              <a:t>Methodology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5267466" y="1570064"/>
            <a:ext cx="36118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r>
              <a:t>Data pipeline, feature engineering, ML models</a:t>
            </a:r>
          </a:p>
        </p:txBody>
      </p:sp>
      <p:sp>
        <p:nvSpPr>
          <p:cNvPr id="41" name="Shape 12"/>
          <p:cNvSpPr/>
          <p:nvPr/>
        </p:nvSpPr>
        <p:spPr>
          <a:xfrm>
            <a:off x="146826" y="2342868"/>
            <a:ext cx="429768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2" name="Shape 13"/>
          <p:cNvSpPr/>
          <p:nvPr/>
        </p:nvSpPr>
        <p:spPr>
          <a:xfrm>
            <a:off x="146826" y="2342868"/>
            <a:ext cx="502920" cy="86868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Text 14"/>
          <p:cNvSpPr txBox="1"/>
          <p:nvPr/>
        </p:nvSpPr>
        <p:spPr>
          <a:xfrm>
            <a:off x="192546" y="2620511"/>
            <a:ext cx="41148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03</a:t>
            </a:r>
          </a:p>
        </p:txBody>
      </p:sp>
      <p:sp>
        <p:nvSpPr>
          <p:cNvPr id="44" name="Text 15"/>
          <p:cNvSpPr txBox="1"/>
          <p:nvPr/>
        </p:nvSpPr>
        <p:spPr>
          <a:xfrm>
            <a:off x="741186" y="2488086"/>
            <a:ext cx="3611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D1B2A"/>
                </a:solidFill>
              </a:defRPr>
            </a:lvl1pPr>
          </a:lstStyle>
          <a:p>
            <a:r>
              <a:t>Exploratory Data Analysis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741186" y="2873264"/>
            <a:ext cx="36118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r>
              <a:t>Sensor distributions and class balance</a:t>
            </a:r>
          </a:p>
        </p:txBody>
      </p:sp>
      <p:sp>
        <p:nvSpPr>
          <p:cNvPr id="46" name="Shape 17"/>
          <p:cNvSpPr/>
          <p:nvPr/>
        </p:nvSpPr>
        <p:spPr>
          <a:xfrm>
            <a:off x="4673105" y="2342868"/>
            <a:ext cx="4297681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7" name="Shape 18"/>
          <p:cNvSpPr/>
          <p:nvPr/>
        </p:nvSpPr>
        <p:spPr>
          <a:xfrm>
            <a:off x="4673105" y="2342868"/>
            <a:ext cx="502920" cy="86868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19"/>
          <p:cNvSpPr txBox="1"/>
          <p:nvPr/>
        </p:nvSpPr>
        <p:spPr>
          <a:xfrm>
            <a:off x="4718826" y="2620511"/>
            <a:ext cx="41148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04</a:t>
            </a:r>
          </a:p>
        </p:txBody>
      </p:sp>
      <p:sp>
        <p:nvSpPr>
          <p:cNvPr id="49" name="Text 20"/>
          <p:cNvSpPr txBox="1"/>
          <p:nvPr/>
        </p:nvSpPr>
        <p:spPr>
          <a:xfrm>
            <a:off x="5267466" y="2488086"/>
            <a:ext cx="3611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D1B2A"/>
                </a:solidFill>
              </a:defRPr>
            </a:lvl1pPr>
          </a:lstStyle>
          <a:p>
            <a:r>
              <a:t>Implementation &amp; Code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5267466" y="2873264"/>
            <a:ext cx="36118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r>
              <a:t>Model training, Streamlit app walkthrough</a:t>
            </a:r>
          </a:p>
        </p:txBody>
      </p:sp>
      <p:sp>
        <p:nvSpPr>
          <p:cNvPr id="51" name="Shape 22"/>
          <p:cNvSpPr/>
          <p:nvPr/>
        </p:nvSpPr>
        <p:spPr>
          <a:xfrm>
            <a:off x="146826" y="3817063"/>
            <a:ext cx="429768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2" name="Shape 23"/>
          <p:cNvSpPr/>
          <p:nvPr/>
        </p:nvSpPr>
        <p:spPr>
          <a:xfrm>
            <a:off x="146826" y="3817063"/>
            <a:ext cx="502920" cy="86868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" name="Text 24"/>
          <p:cNvSpPr txBox="1"/>
          <p:nvPr/>
        </p:nvSpPr>
        <p:spPr>
          <a:xfrm>
            <a:off x="192546" y="4094706"/>
            <a:ext cx="41148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05</a:t>
            </a:r>
          </a:p>
        </p:txBody>
      </p:sp>
      <p:sp>
        <p:nvSpPr>
          <p:cNvPr id="54" name="Text 25"/>
          <p:cNvSpPr txBox="1"/>
          <p:nvPr/>
        </p:nvSpPr>
        <p:spPr>
          <a:xfrm>
            <a:off x="741186" y="3962281"/>
            <a:ext cx="36118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D1B2A"/>
                </a:solidFill>
              </a:defRPr>
            </a:lvl1pPr>
          </a:lstStyle>
          <a:p>
            <a:r>
              <a:t>Results</a:t>
            </a:r>
          </a:p>
        </p:txBody>
      </p:sp>
      <p:sp>
        <p:nvSpPr>
          <p:cNvPr id="55" name="Text 26"/>
          <p:cNvSpPr txBox="1"/>
          <p:nvPr/>
        </p:nvSpPr>
        <p:spPr>
          <a:xfrm>
            <a:off x="741186" y="4347459"/>
            <a:ext cx="36118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r>
              <a:t>Confusion matrices, ROC curves, learning curves</a:t>
            </a:r>
          </a:p>
        </p:txBody>
      </p:sp>
      <p:sp>
        <p:nvSpPr>
          <p:cNvPr id="56" name="Shape 27"/>
          <p:cNvSpPr/>
          <p:nvPr/>
        </p:nvSpPr>
        <p:spPr>
          <a:xfrm>
            <a:off x="4673105" y="3817063"/>
            <a:ext cx="4297681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7" name="Shape 28"/>
          <p:cNvSpPr/>
          <p:nvPr/>
        </p:nvSpPr>
        <p:spPr>
          <a:xfrm>
            <a:off x="4673105" y="3817063"/>
            <a:ext cx="502920" cy="86868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Text 29"/>
          <p:cNvSpPr txBox="1"/>
          <p:nvPr/>
        </p:nvSpPr>
        <p:spPr>
          <a:xfrm>
            <a:off x="4718826" y="4094706"/>
            <a:ext cx="41148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06</a:t>
            </a:r>
          </a:p>
        </p:txBody>
      </p:sp>
      <p:sp>
        <p:nvSpPr>
          <p:cNvPr id="59" name="Text 30"/>
          <p:cNvSpPr txBox="1"/>
          <p:nvPr/>
        </p:nvSpPr>
        <p:spPr>
          <a:xfrm>
            <a:off x="5267466" y="3945635"/>
            <a:ext cx="3611881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D1B2A"/>
                </a:solidFill>
              </a:defRPr>
            </a:lvl1pPr>
          </a:lstStyle>
          <a:p>
            <a:r>
              <a:rPr lang="en-IN" dirty="0"/>
              <a:t>References</a:t>
            </a:r>
          </a:p>
        </p:txBody>
      </p:sp>
      <p:sp>
        <p:nvSpPr>
          <p:cNvPr id="60" name="Text 31"/>
          <p:cNvSpPr txBox="1"/>
          <p:nvPr/>
        </p:nvSpPr>
        <p:spPr>
          <a:xfrm>
            <a:off x="5267466" y="4339051"/>
            <a:ext cx="361188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Dataset sources and key papers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" name="Text 1"/>
          <p:cNvSpPr txBox="1"/>
          <p:nvPr/>
        </p:nvSpPr>
        <p:spPr>
          <a:xfrm>
            <a:off x="411479" y="1240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Abstract &amp; Scope</a:t>
            </a:r>
          </a:p>
        </p:txBody>
      </p:sp>
      <p:sp>
        <p:nvSpPr>
          <p:cNvPr id="74" name="Text 2"/>
          <p:cNvSpPr txBox="1"/>
          <p:nvPr/>
        </p:nvSpPr>
        <p:spPr>
          <a:xfrm>
            <a:off x="320040" y="866842"/>
            <a:ext cx="402336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75" name="Text 3"/>
          <p:cNvSpPr txBox="1"/>
          <p:nvPr/>
        </p:nvSpPr>
        <p:spPr>
          <a:xfrm>
            <a:off x="320040" y="1140767"/>
            <a:ext cx="4023360" cy="1010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334155"/>
                </a:solidFill>
              </a:defRPr>
            </a:lvl1pPr>
          </a:lstStyle>
          <a:p>
            <a:r>
              <a:t>Industrial turbofan engines degrade over time. Unexpected failure causes costly downtime and safety hazards. This project builds a binary classification system to detect near-failure conditions before they occur, enabling proactive maintenance scheduling.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320040" y="2284161"/>
            <a:ext cx="402336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028090"/>
                </a:solidFill>
              </a:defRPr>
            </a:lvl1pPr>
          </a:lstStyle>
          <a:p>
            <a:r>
              <a:t>Dataset: NASA CMAPSS</a:t>
            </a:r>
          </a:p>
        </p:txBody>
      </p:sp>
      <p:sp>
        <p:nvSpPr>
          <p:cNvPr id="77" name="Text 5"/>
          <p:cNvSpPr txBox="1"/>
          <p:nvPr/>
        </p:nvSpPr>
        <p:spPr>
          <a:xfrm>
            <a:off x="320040" y="3214546"/>
            <a:ext cx="4023360" cy="886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Source: NASA Turbofan Engine Degradation Simulation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21 sensor readings + 3 operational settings per cycle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14 sensors selected after removing near-constant features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Binary label: Normal (RUL &gt; 30) vs Near-Failure (RUL ≤ 30)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~20,000+ training cycles across multiple engines</a:t>
            </a:r>
          </a:p>
        </p:txBody>
      </p:sp>
      <p:sp>
        <p:nvSpPr>
          <p:cNvPr id="78" name="Shape 6"/>
          <p:cNvSpPr/>
          <p:nvPr/>
        </p:nvSpPr>
        <p:spPr>
          <a:xfrm>
            <a:off x="4709159" y="822960"/>
            <a:ext cx="4206241" cy="402336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7"/>
          <p:cNvSpPr txBox="1"/>
          <p:nvPr/>
        </p:nvSpPr>
        <p:spPr>
          <a:xfrm>
            <a:off x="4983479" y="981141"/>
            <a:ext cx="36576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 b="1">
                <a:solidFill>
                  <a:srgbClr val="E9C46A"/>
                </a:solidFill>
              </a:defRPr>
            </a:lvl1pPr>
          </a:lstStyle>
          <a:p>
            <a:r>
              <a:t>Project Scope</a:t>
            </a:r>
          </a:p>
        </p:txBody>
      </p:sp>
      <p:sp>
        <p:nvSpPr>
          <p:cNvPr id="80" name="Text 8"/>
          <p:cNvSpPr txBox="1"/>
          <p:nvPr/>
        </p:nvSpPr>
        <p:spPr>
          <a:xfrm>
            <a:off x="4983479" y="2226617"/>
            <a:ext cx="3657601" cy="1581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EDA of sensor distributions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Feature selection &amp; normalization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4 ML classifiers compared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PCA dimensionality reduction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Streamlit interactive app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Confusion matrices &amp; ROC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Learning curve analysis</a:t>
            </a:r>
          </a:p>
          <a:p>
            <a:pPr marL="342900" indent="-342900"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Decision rule explainability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Text 1"/>
          <p:cNvSpPr txBox="1"/>
          <p:nvPr/>
        </p:nvSpPr>
        <p:spPr>
          <a:xfrm>
            <a:off x="411479" y="12406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Methodology</a:t>
            </a:r>
          </a:p>
        </p:txBody>
      </p:sp>
      <p:sp>
        <p:nvSpPr>
          <p:cNvPr id="84" name="Shape 2"/>
          <p:cNvSpPr/>
          <p:nvPr/>
        </p:nvSpPr>
        <p:spPr>
          <a:xfrm>
            <a:off x="182880" y="82296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9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5" name="Shape 3"/>
          <p:cNvSpPr/>
          <p:nvPr/>
        </p:nvSpPr>
        <p:spPr>
          <a:xfrm>
            <a:off x="182880" y="822960"/>
            <a:ext cx="2834640" cy="384049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Text 4"/>
          <p:cNvSpPr txBox="1"/>
          <p:nvPr/>
        </p:nvSpPr>
        <p:spPr>
          <a:xfrm>
            <a:off x="274319" y="941123"/>
            <a:ext cx="2651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01  Data Ingestion</a:t>
            </a:r>
          </a:p>
        </p:txBody>
      </p:sp>
      <p:sp>
        <p:nvSpPr>
          <p:cNvPr id="87" name="Text 5"/>
          <p:cNvSpPr txBox="1"/>
          <p:nvPr/>
        </p:nvSpPr>
        <p:spPr>
          <a:xfrm>
            <a:off x="320039" y="1688006"/>
            <a:ext cx="2560322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r>
              <a:t>Load NASA CMAPSS FD001 dataset. Parse engine cycles, sensor columns, and operational settings.</a:t>
            </a:r>
          </a:p>
        </p:txBody>
      </p:sp>
      <p:sp>
        <p:nvSpPr>
          <p:cNvPr id="88" name="Shape 6"/>
          <p:cNvSpPr/>
          <p:nvPr/>
        </p:nvSpPr>
        <p:spPr>
          <a:xfrm>
            <a:off x="3172967" y="822960"/>
            <a:ext cx="2834641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9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89" name="Shape 7"/>
          <p:cNvSpPr/>
          <p:nvPr/>
        </p:nvSpPr>
        <p:spPr>
          <a:xfrm>
            <a:off x="3172967" y="822960"/>
            <a:ext cx="2834641" cy="384049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" name="Text 8"/>
          <p:cNvSpPr txBox="1"/>
          <p:nvPr/>
        </p:nvSpPr>
        <p:spPr>
          <a:xfrm>
            <a:off x="3264408" y="941123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02  Feature Engineering</a:t>
            </a:r>
          </a:p>
        </p:txBody>
      </p:sp>
      <p:sp>
        <p:nvSpPr>
          <p:cNvPr id="91" name="Text 9"/>
          <p:cNvSpPr txBox="1"/>
          <p:nvPr/>
        </p:nvSpPr>
        <p:spPr>
          <a:xfrm>
            <a:off x="3310128" y="1688006"/>
            <a:ext cx="2560321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r>
              <a:t>Drop near-zero-variance sensors (1,5,6,10,16,18,19). Retain 14 sensors + 2 op settings. Label: RUL ≤ 30 = Near-Failure.</a:t>
            </a:r>
          </a:p>
        </p:txBody>
      </p:sp>
      <p:sp>
        <p:nvSpPr>
          <p:cNvPr id="92" name="Shape 10"/>
          <p:cNvSpPr/>
          <p:nvPr/>
        </p:nvSpPr>
        <p:spPr>
          <a:xfrm>
            <a:off x="6163055" y="822960"/>
            <a:ext cx="2834641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9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3" name="Shape 11"/>
          <p:cNvSpPr/>
          <p:nvPr/>
        </p:nvSpPr>
        <p:spPr>
          <a:xfrm>
            <a:off x="6163055" y="822960"/>
            <a:ext cx="2834641" cy="384049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Text 12"/>
          <p:cNvSpPr txBox="1"/>
          <p:nvPr/>
        </p:nvSpPr>
        <p:spPr>
          <a:xfrm>
            <a:off x="6254496" y="941123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03  Preprocessing</a:t>
            </a:r>
          </a:p>
        </p:txBody>
      </p:sp>
      <p:sp>
        <p:nvSpPr>
          <p:cNvPr id="95" name="Text 13"/>
          <p:cNvSpPr txBox="1"/>
          <p:nvPr/>
        </p:nvSpPr>
        <p:spPr>
          <a:xfrm>
            <a:off x="6300216" y="1688006"/>
            <a:ext cx="2560321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r>
              <a:t>MinMaxScaler normalization [0,1]. 80/20 stratified train-test split. PCA (10 components) for Random Forest.</a:t>
            </a:r>
          </a:p>
        </p:txBody>
      </p:sp>
      <p:sp>
        <p:nvSpPr>
          <p:cNvPr id="96" name="Shape 14"/>
          <p:cNvSpPr/>
          <p:nvPr/>
        </p:nvSpPr>
        <p:spPr>
          <a:xfrm>
            <a:off x="182880" y="288036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9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97" name="Shape 15"/>
          <p:cNvSpPr/>
          <p:nvPr/>
        </p:nvSpPr>
        <p:spPr>
          <a:xfrm>
            <a:off x="182880" y="2880360"/>
            <a:ext cx="2834640" cy="384049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 16"/>
          <p:cNvSpPr txBox="1"/>
          <p:nvPr/>
        </p:nvSpPr>
        <p:spPr>
          <a:xfrm>
            <a:off x="274319" y="2998523"/>
            <a:ext cx="2651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04  Model Training</a:t>
            </a:r>
          </a:p>
        </p:txBody>
      </p:sp>
      <p:sp>
        <p:nvSpPr>
          <p:cNvPr id="99" name="Text 17"/>
          <p:cNvSpPr txBox="1"/>
          <p:nvPr/>
        </p:nvSpPr>
        <p:spPr>
          <a:xfrm>
            <a:off x="320039" y="3807916"/>
            <a:ext cx="256032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r>
              <a:rPr dirty="0"/>
              <a:t>Logistic Regression, Gaussian NB, Random Forest (100 trees, PCA features).</a:t>
            </a:r>
          </a:p>
        </p:txBody>
      </p:sp>
      <p:sp>
        <p:nvSpPr>
          <p:cNvPr id="100" name="Shape 18"/>
          <p:cNvSpPr/>
          <p:nvPr/>
        </p:nvSpPr>
        <p:spPr>
          <a:xfrm>
            <a:off x="3172967" y="2880360"/>
            <a:ext cx="2834641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9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1" name="Shape 19"/>
          <p:cNvSpPr/>
          <p:nvPr/>
        </p:nvSpPr>
        <p:spPr>
          <a:xfrm>
            <a:off x="3172967" y="2880360"/>
            <a:ext cx="2834641" cy="384049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" name="Text 20"/>
          <p:cNvSpPr txBox="1"/>
          <p:nvPr/>
        </p:nvSpPr>
        <p:spPr>
          <a:xfrm>
            <a:off x="3264408" y="2998523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05  Evaluation</a:t>
            </a:r>
          </a:p>
        </p:txBody>
      </p:sp>
      <p:sp>
        <p:nvSpPr>
          <p:cNvPr id="103" name="Text 21"/>
          <p:cNvSpPr txBox="1"/>
          <p:nvPr/>
        </p:nvSpPr>
        <p:spPr>
          <a:xfrm>
            <a:off x="3310128" y="3827955"/>
            <a:ext cx="256032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r>
              <a:t>F1, Precision, Recall, ROC-AUC. Cross-validated learning curves with 5-fold CV.</a:t>
            </a:r>
          </a:p>
        </p:txBody>
      </p:sp>
      <p:sp>
        <p:nvSpPr>
          <p:cNvPr id="104" name="Shape 22"/>
          <p:cNvSpPr/>
          <p:nvPr/>
        </p:nvSpPr>
        <p:spPr>
          <a:xfrm>
            <a:off x="6163055" y="2880360"/>
            <a:ext cx="2834641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9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5" name="Shape 23"/>
          <p:cNvSpPr/>
          <p:nvPr/>
        </p:nvSpPr>
        <p:spPr>
          <a:xfrm>
            <a:off x="6163055" y="2880360"/>
            <a:ext cx="2834641" cy="384049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Text 24"/>
          <p:cNvSpPr txBox="1"/>
          <p:nvPr/>
        </p:nvSpPr>
        <p:spPr>
          <a:xfrm>
            <a:off x="6254496" y="2998523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FFFFFF"/>
                </a:solidFill>
              </a:defRPr>
            </a:lvl1pPr>
          </a:lstStyle>
          <a:p>
            <a:r>
              <a:t>06  Deployment</a:t>
            </a:r>
          </a:p>
        </p:txBody>
      </p:sp>
      <p:sp>
        <p:nvSpPr>
          <p:cNvPr id="107" name="Text 25"/>
          <p:cNvSpPr txBox="1"/>
          <p:nvPr/>
        </p:nvSpPr>
        <p:spPr>
          <a:xfrm>
            <a:off x="6300216" y="3745405"/>
            <a:ext cx="2560321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34155"/>
                </a:solidFill>
              </a:defRPr>
            </a:lvl1pPr>
          </a:lstStyle>
          <a:p>
            <a:r>
              <a:t>Streamlit app with live sensor sliders, health gauge, explainability tab, and model comparison.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Exploratory Data Analysis — Sensor Degradation Trajectories</a:t>
            </a:r>
          </a:p>
        </p:txBody>
      </p:sp>
      <p:pic>
        <p:nvPicPr>
          <p:cNvPr id="11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8686800" cy="4160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Exploratory Data Analysis — Sensor Distributions &amp; VIF</a:t>
            </a:r>
          </a:p>
        </p:txBody>
      </p:sp>
      <p:pic>
        <p:nvPicPr>
          <p:cNvPr id="11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77240"/>
            <a:ext cx="5120641" cy="41605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59" y="777240"/>
            <a:ext cx="3611881" cy="4160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Exploratory Data Analysis — Key Observations</a:t>
            </a:r>
          </a:p>
        </p:txBody>
      </p:sp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77240"/>
            <a:ext cx="5029201" cy="3291841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Shape 2"/>
          <p:cNvSpPr/>
          <p:nvPr/>
        </p:nvSpPr>
        <p:spPr>
          <a:xfrm>
            <a:off x="5349240" y="822960"/>
            <a:ext cx="3611881" cy="5120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2" name="Shape 3"/>
          <p:cNvSpPr/>
          <p:nvPr/>
        </p:nvSpPr>
        <p:spPr>
          <a:xfrm>
            <a:off x="5349240" y="822960"/>
            <a:ext cx="64009" cy="512065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Text 4"/>
          <p:cNvSpPr txBox="1"/>
          <p:nvPr/>
        </p:nvSpPr>
        <p:spPr>
          <a:xfrm>
            <a:off x="5486400" y="882440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sensor2, 3, 4</a:t>
            </a:r>
          </a:p>
        </p:txBody>
      </p:sp>
      <p:sp>
        <p:nvSpPr>
          <p:cNvPr id="124" name="Text 5"/>
          <p:cNvSpPr txBox="1"/>
          <p:nvPr/>
        </p:nvSpPr>
        <p:spPr>
          <a:xfrm>
            <a:off x="5486400" y="1111040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Gaussian distributions — good discriminators</a:t>
            </a:r>
          </a:p>
        </p:txBody>
      </p:sp>
      <p:sp>
        <p:nvSpPr>
          <p:cNvPr id="125" name="Shape 6"/>
          <p:cNvSpPr/>
          <p:nvPr/>
        </p:nvSpPr>
        <p:spPr>
          <a:xfrm>
            <a:off x="5349240" y="1389888"/>
            <a:ext cx="3611881" cy="5120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6" name="Shape 7"/>
          <p:cNvSpPr/>
          <p:nvPr/>
        </p:nvSpPr>
        <p:spPr>
          <a:xfrm>
            <a:off x="5349240" y="1389888"/>
            <a:ext cx="64009" cy="512065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Text 8"/>
          <p:cNvSpPr txBox="1"/>
          <p:nvPr/>
        </p:nvSpPr>
        <p:spPr>
          <a:xfrm>
            <a:off x="5486400" y="1449368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sensor17</a:t>
            </a:r>
          </a:p>
        </p:txBody>
      </p:sp>
      <p:sp>
        <p:nvSpPr>
          <p:cNvPr id="128" name="Text 9"/>
          <p:cNvSpPr txBox="1"/>
          <p:nvPr/>
        </p:nvSpPr>
        <p:spPr>
          <a:xfrm>
            <a:off x="5486400" y="1677968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Discrete/stepped values (operational setting)</a:t>
            </a:r>
          </a:p>
        </p:txBody>
      </p:sp>
      <p:sp>
        <p:nvSpPr>
          <p:cNvPr id="129" name="Shape 10"/>
          <p:cNvSpPr/>
          <p:nvPr/>
        </p:nvSpPr>
        <p:spPr>
          <a:xfrm>
            <a:off x="5349240" y="1956816"/>
            <a:ext cx="3611881" cy="5120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0" name="Shape 11"/>
          <p:cNvSpPr/>
          <p:nvPr/>
        </p:nvSpPr>
        <p:spPr>
          <a:xfrm>
            <a:off x="5349240" y="1956816"/>
            <a:ext cx="64009" cy="512065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" name="Text 12"/>
          <p:cNvSpPr txBox="1"/>
          <p:nvPr/>
        </p:nvSpPr>
        <p:spPr>
          <a:xfrm>
            <a:off x="5486400" y="2016296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sensor8 &amp; 13</a:t>
            </a:r>
          </a:p>
        </p:txBody>
      </p:sp>
      <p:sp>
        <p:nvSpPr>
          <p:cNvPr id="132" name="Text 13"/>
          <p:cNvSpPr txBox="1"/>
          <p:nvPr/>
        </p:nvSpPr>
        <p:spPr>
          <a:xfrm>
            <a:off x="5486400" y="2244896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Bimodal, indicating operational modes</a:t>
            </a:r>
          </a:p>
        </p:txBody>
      </p:sp>
      <p:sp>
        <p:nvSpPr>
          <p:cNvPr id="133" name="Shape 14"/>
          <p:cNvSpPr/>
          <p:nvPr/>
        </p:nvSpPr>
        <p:spPr>
          <a:xfrm>
            <a:off x="5349240" y="2523744"/>
            <a:ext cx="3611881" cy="5120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4" name="Shape 15"/>
          <p:cNvSpPr/>
          <p:nvPr/>
        </p:nvSpPr>
        <p:spPr>
          <a:xfrm>
            <a:off x="5349240" y="2523744"/>
            <a:ext cx="64009" cy="512065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16"/>
          <p:cNvSpPr txBox="1"/>
          <p:nvPr/>
        </p:nvSpPr>
        <p:spPr>
          <a:xfrm>
            <a:off x="5486400" y="2583224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op1, op2</a:t>
            </a:r>
          </a:p>
        </p:txBody>
      </p:sp>
      <p:sp>
        <p:nvSpPr>
          <p:cNvPr id="136" name="Text 17"/>
          <p:cNvSpPr txBox="1"/>
          <p:nvPr/>
        </p:nvSpPr>
        <p:spPr>
          <a:xfrm>
            <a:off x="5486400" y="2811824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Approximately uniform, reflect flight condition</a:t>
            </a:r>
          </a:p>
        </p:txBody>
      </p:sp>
      <p:sp>
        <p:nvSpPr>
          <p:cNvPr id="137" name="Shape 18"/>
          <p:cNvSpPr/>
          <p:nvPr/>
        </p:nvSpPr>
        <p:spPr>
          <a:xfrm>
            <a:off x="5349240" y="3090672"/>
            <a:ext cx="3611881" cy="5120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8" name="Shape 19"/>
          <p:cNvSpPr/>
          <p:nvPr/>
        </p:nvSpPr>
        <p:spPr>
          <a:xfrm>
            <a:off x="5349240" y="3090672"/>
            <a:ext cx="64009" cy="512065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Text 20"/>
          <p:cNvSpPr txBox="1"/>
          <p:nvPr/>
        </p:nvSpPr>
        <p:spPr>
          <a:xfrm>
            <a:off x="5486400" y="3150152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Class Imbalance</a:t>
            </a:r>
          </a:p>
        </p:txBody>
      </p:sp>
      <p:sp>
        <p:nvSpPr>
          <p:cNvPr id="140" name="Text 21"/>
          <p:cNvSpPr txBox="1"/>
          <p:nvPr/>
        </p:nvSpPr>
        <p:spPr>
          <a:xfrm>
            <a:off x="5486400" y="3378752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~15% near-failure samples — addressed in evaluation</a:t>
            </a:r>
          </a:p>
        </p:txBody>
      </p:sp>
      <p:sp>
        <p:nvSpPr>
          <p:cNvPr id="141" name="Shape 22"/>
          <p:cNvSpPr/>
          <p:nvPr/>
        </p:nvSpPr>
        <p:spPr>
          <a:xfrm>
            <a:off x="5349240" y="3657600"/>
            <a:ext cx="3611881" cy="5120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2" name="Shape 23"/>
          <p:cNvSpPr/>
          <p:nvPr/>
        </p:nvSpPr>
        <p:spPr>
          <a:xfrm>
            <a:off x="5349240" y="3657600"/>
            <a:ext cx="64009" cy="512064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Text 24"/>
          <p:cNvSpPr txBox="1"/>
          <p:nvPr/>
        </p:nvSpPr>
        <p:spPr>
          <a:xfrm>
            <a:off x="5486400" y="3717080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Train Shape</a:t>
            </a:r>
          </a:p>
        </p:txBody>
      </p:sp>
      <p:sp>
        <p:nvSpPr>
          <p:cNvPr id="144" name="Text 25"/>
          <p:cNvSpPr txBox="1"/>
          <p:nvPr/>
        </p:nvSpPr>
        <p:spPr>
          <a:xfrm>
            <a:off x="5486400" y="3945680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20,631 rows × 26 cols | Test: 13,096 × 26</a:t>
            </a:r>
          </a:p>
        </p:txBody>
      </p:sp>
      <p:sp>
        <p:nvSpPr>
          <p:cNvPr id="145" name="Shape 26"/>
          <p:cNvSpPr/>
          <p:nvPr/>
        </p:nvSpPr>
        <p:spPr>
          <a:xfrm>
            <a:off x="5349240" y="4224528"/>
            <a:ext cx="3611881" cy="5120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" dist="12700" dir="81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46" name="Shape 27"/>
          <p:cNvSpPr/>
          <p:nvPr/>
        </p:nvSpPr>
        <p:spPr>
          <a:xfrm>
            <a:off x="5349240" y="4224528"/>
            <a:ext cx="64009" cy="512065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28"/>
          <p:cNvSpPr txBox="1"/>
          <p:nvPr/>
        </p:nvSpPr>
        <p:spPr>
          <a:xfrm>
            <a:off x="5486400" y="4284008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028090"/>
                </a:solidFill>
              </a:defRPr>
            </a:lvl1pPr>
          </a:lstStyle>
          <a:p>
            <a:r>
              <a:t>14 Sensors</a:t>
            </a:r>
          </a:p>
        </p:txBody>
      </p:sp>
      <p:sp>
        <p:nvSpPr>
          <p:cNvPr id="148" name="Text 29"/>
          <p:cNvSpPr txBox="1"/>
          <p:nvPr/>
        </p:nvSpPr>
        <p:spPr>
          <a:xfrm>
            <a:off x="5486400" y="4512608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Retained after removing near-zero-variance features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Implementation — Data Pipeline &amp; Feature Engineering</a:t>
            </a:r>
          </a:p>
        </p:txBody>
      </p:sp>
      <p:sp>
        <p:nvSpPr>
          <p:cNvPr id="152" name="Shape 2"/>
          <p:cNvSpPr/>
          <p:nvPr/>
        </p:nvSpPr>
        <p:spPr>
          <a:xfrm>
            <a:off x="182879" y="777239"/>
            <a:ext cx="5029201" cy="4160522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Text 3"/>
          <p:cNvSpPr txBox="1"/>
          <p:nvPr/>
        </p:nvSpPr>
        <p:spPr>
          <a:xfrm>
            <a:off x="320039" y="1234947"/>
            <a:ext cx="4754881" cy="319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Feature Selection &amp; Label Engineering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sensor_cols = [f'sensor{i}' for i in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[2,3,4,7,8,9,11,12,13,14,15,17,20,21]]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feature_cols = sensor_cols + ['op1','op2']</a:t>
            </a:r>
          </a:p>
          <a:p>
            <a:pPr>
              <a:defRPr sz="900"/>
            </a:pPr>
            <a:endParaRPr/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EWMA trend features (new)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col in sensor_cols: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df[col+'_ewma'] = df.groupby('unit')[col]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.transform(lambda x: x.ewm(span=10).mean())</a:t>
            </a:r>
          </a:p>
          <a:p>
            <a:pPr>
              <a:defRPr sz="900"/>
            </a:pPr>
            <a:endParaRPr/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RUL computation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df['max_cycle'] = df.groupby('unit')['cycle']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.transform('max')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df['RUL'] = df['max_cycle'] - df['cycle']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df['label'] = (df['RUL'] &lt;= 30).astype(int)</a:t>
            </a:r>
          </a:p>
          <a:p>
            <a:pPr>
              <a:defRPr sz="900"/>
            </a:pPr>
            <a:endParaRPr/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Normalize (Global)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scaler = MinMaxScaler()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X_train = scaler.fit_transform(df_train[feature_cols])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X_test  = scaler.transform(df_test[feature_cols])</a:t>
            </a:r>
          </a:p>
          <a:p>
            <a:pPr>
              <a:defRPr sz="900"/>
            </a:pPr>
            <a:endParaRPr/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PCA for Random Forest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pca = PCA(n_components=10)</a:t>
            </a:r>
          </a:p>
          <a:p>
            <a:pPr>
              <a:defRPr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X_train_pca = pca.fit_transform(X_train)</a:t>
            </a:r>
          </a:p>
        </p:txBody>
      </p:sp>
      <p:sp>
        <p:nvSpPr>
          <p:cNvPr id="154" name="Shape 4"/>
          <p:cNvSpPr/>
          <p:nvPr/>
        </p:nvSpPr>
        <p:spPr>
          <a:xfrm>
            <a:off x="5349240" y="822960"/>
            <a:ext cx="3611881" cy="9326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5" name="Shape 5"/>
          <p:cNvSpPr/>
          <p:nvPr/>
        </p:nvSpPr>
        <p:spPr>
          <a:xfrm>
            <a:off x="5349240" y="822960"/>
            <a:ext cx="64009" cy="932689"/>
          </a:xfrm>
          <a:prstGeom prst="rect">
            <a:avLst/>
          </a:prstGeom>
          <a:solidFill>
            <a:srgbClr val="E9C46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6"/>
          <p:cNvSpPr txBox="1"/>
          <p:nvPr/>
        </p:nvSpPr>
        <p:spPr>
          <a:xfrm>
            <a:off x="5486400" y="927407"/>
            <a:ext cx="33832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D1B2A"/>
                </a:solidFill>
              </a:defRPr>
            </a:lvl1pPr>
          </a:lstStyle>
          <a:p>
            <a:r>
              <a:t>Why drop sensors?</a:t>
            </a:r>
          </a:p>
        </p:txBody>
      </p:sp>
      <p:sp>
        <p:nvSpPr>
          <p:cNvPr id="157" name="Text 7"/>
          <p:cNvSpPr txBox="1"/>
          <p:nvPr/>
        </p:nvSpPr>
        <p:spPr>
          <a:xfrm>
            <a:off x="5486400" y="1275378"/>
            <a:ext cx="338328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Sensors 1,5,6,10,16,18,19 have near-zero variance — no signal, adds noise.</a:t>
            </a:r>
          </a:p>
        </p:txBody>
      </p:sp>
      <p:sp>
        <p:nvSpPr>
          <p:cNvPr id="158" name="Shape 8"/>
          <p:cNvSpPr/>
          <p:nvPr/>
        </p:nvSpPr>
        <p:spPr>
          <a:xfrm>
            <a:off x="5349240" y="1828800"/>
            <a:ext cx="3611881" cy="9326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9" name="Shape 9"/>
          <p:cNvSpPr/>
          <p:nvPr/>
        </p:nvSpPr>
        <p:spPr>
          <a:xfrm>
            <a:off x="5349240" y="1828800"/>
            <a:ext cx="64009" cy="932689"/>
          </a:xfrm>
          <a:prstGeom prst="rect">
            <a:avLst/>
          </a:prstGeom>
          <a:solidFill>
            <a:srgbClr val="E9C46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Text 10"/>
          <p:cNvSpPr txBox="1"/>
          <p:nvPr/>
        </p:nvSpPr>
        <p:spPr>
          <a:xfrm>
            <a:off x="5486400" y="1933247"/>
            <a:ext cx="33832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D1B2A"/>
                </a:solidFill>
              </a:defRPr>
            </a:lvl1pPr>
          </a:lstStyle>
          <a:p>
            <a:r>
              <a:t>EWMA Features</a:t>
            </a:r>
          </a:p>
        </p:txBody>
      </p:sp>
      <p:sp>
        <p:nvSpPr>
          <p:cNvPr id="161" name="Text 11"/>
          <p:cNvSpPr txBox="1"/>
          <p:nvPr/>
        </p:nvSpPr>
        <p:spPr>
          <a:xfrm>
            <a:off x="5486400" y="2281218"/>
            <a:ext cx="338328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28 total features after EWMA smoothing. Trend features dominate importance.</a:t>
            </a:r>
          </a:p>
        </p:txBody>
      </p:sp>
      <p:sp>
        <p:nvSpPr>
          <p:cNvPr id="162" name="Shape 12"/>
          <p:cNvSpPr/>
          <p:nvPr/>
        </p:nvSpPr>
        <p:spPr>
          <a:xfrm>
            <a:off x="5349240" y="2834639"/>
            <a:ext cx="3611881" cy="9326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3" name="Shape 13"/>
          <p:cNvSpPr/>
          <p:nvPr/>
        </p:nvSpPr>
        <p:spPr>
          <a:xfrm>
            <a:off x="5349240" y="2834639"/>
            <a:ext cx="64009" cy="932689"/>
          </a:xfrm>
          <a:prstGeom prst="rect">
            <a:avLst/>
          </a:prstGeom>
          <a:solidFill>
            <a:srgbClr val="E9C46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Text 14"/>
          <p:cNvSpPr txBox="1"/>
          <p:nvPr/>
        </p:nvSpPr>
        <p:spPr>
          <a:xfrm>
            <a:off x="5486400" y="2939087"/>
            <a:ext cx="33832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D1B2A"/>
                </a:solidFill>
              </a:defRPr>
            </a:lvl1pPr>
          </a:lstStyle>
          <a:p>
            <a:r>
              <a:t>RUL Labeling</a:t>
            </a:r>
          </a:p>
        </p:txBody>
      </p:sp>
      <p:sp>
        <p:nvSpPr>
          <p:cNvPr id="165" name="Text 15"/>
          <p:cNvSpPr txBox="1"/>
          <p:nvPr/>
        </p:nvSpPr>
        <p:spPr>
          <a:xfrm>
            <a:off x="5486400" y="3287058"/>
            <a:ext cx="338328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RUL ≤ 30 cycles = 'Near-Failure'. Gives maintenance teams lead time.</a:t>
            </a:r>
          </a:p>
        </p:txBody>
      </p:sp>
      <p:sp>
        <p:nvSpPr>
          <p:cNvPr id="166" name="Shape 16"/>
          <p:cNvSpPr/>
          <p:nvPr/>
        </p:nvSpPr>
        <p:spPr>
          <a:xfrm>
            <a:off x="5349240" y="3840479"/>
            <a:ext cx="3611881" cy="9326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7" name="Shape 17"/>
          <p:cNvSpPr/>
          <p:nvPr/>
        </p:nvSpPr>
        <p:spPr>
          <a:xfrm>
            <a:off x="5349240" y="3840479"/>
            <a:ext cx="64009" cy="932689"/>
          </a:xfrm>
          <a:prstGeom prst="rect">
            <a:avLst/>
          </a:prstGeom>
          <a:solidFill>
            <a:srgbClr val="E9C46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Text 18"/>
          <p:cNvSpPr txBox="1"/>
          <p:nvPr/>
        </p:nvSpPr>
        <p:spPr>
          <a:xfrm>
            <a:off x="5486400" y="3944927"/>
            <a:ext cx="33832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D1B2A"/>
                </a:solidFill>
              </a:defRPr>
            </a:lvl1pPr>
          </a:lstStyle>
          <a:p>
            <a:r>
              <a:t>PCA for RF</a:t>
            </a:r>
          </a:p>
        </p:txBody>
      </p:sp>
      <p:sp>
        <p:nvSpPr>
          <p:cNvPr id="169" name="Text 19"/>
          <p:cNvSpPr txBox="1"/>
          <p:nvPr/>
        </p:nvSpPr>
        <p:spPr>
          <a:xfrm>
            <a:off x="5486400" y="4292898"/>
            <a:ext cx="3383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10 PCA components explain ~95% variance. Reduces noise and training time.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Implementation — Models &amp; Streamlit App</a:t>
            </a:r>
          </a:p>
        </p:txBody>
      </p:sp>
      <p:sp>
        <p:nvSpPr>
          <p:cNvPr id="173" name="Shape 2"/>
          <p:cNvSpPr/>
          <p:nvPr/>
        </p:nvSpPr>
        <p:spPr>
          <a:xfrm>
            <a:off x="182880" y="82296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4" name="Shape 3"/>
          <p:cNvSpPr/>
          <p:nvPr/>
        </p:nvSpPr>
        <p:spPr>
          <a:xfrm>
            <a:off x="182880" y="822960"/>
            <a:ext cx="4251960" cy="411481"/>
          </a:xfrm>
          <a:prstGeom prst="rect">
            <a:avLst/>
          </a:prstGeom>
          <a:solidFill>
            <a:srgbClr val="1D6FA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" name="Text 4"/>
          <p:cNvSpPr txBox="1"/>
          <p:nvPr/>
        </p:nvSpPr>
        <p:spPr>
          <a:xfrm>
            <a:off x="274320" y="938592"/>
            <a:ext cx="40690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Logistic Regression</a:t>
            </a:r>
          </a:p>
        </p:txBody>
      </p:sp>
      <p:sp>
        <p:nvSpPr>
          <p:cNvPr id="176" name="Text 5"/>
          <p:cNvSpPr txBox="1"/>
          <p:nvPr/>
        </p:nvSpPr>
        <p:spPr>
          <a:xfrm>
            <a:off x="320040" y="1623744"/>
            <a:ext cx="3977640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solver='lbfgs', max_iter=1000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Input: 28 features (raw + EWMA)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CV F1: 0.831 | AUC: 0.989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Balanced, fast, interpretable</a:t>
            </a:r>
          </a:p>
        </p:txBody>
      </p:sp>
      <p:sp>
        <p:nvSpPr>
          <p:cNvPr id="177" name="Shape 6"/>
          <p:cNvSpPr/>
          <p:nvPr/>
        </p:nvSpPr>
        <p:spPr>
          <a:xfrm>
            <a:off x="4663440" y="82296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8" name="Shape 7"/>
          <p:cNvSpPr/>
          <p:nvPr/>
        </p:nvSpPr>
        <p:spPr>
          <a:xfrm>
            <a:off x="4663440" y="822960"/>
            <a:ext cx="4251960" cy="411481"/>
          </a:xfrm>
          <a:prstGeom prst="rect">
            <a:avLst/>
          </a:prstGeom>
          <a:solidFill>
            <a:srgbClr val="7B2D8B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Text 8"/>
          <p:cNvSpPr txBox="1"/>
          <p:nvPr/>
        </p:nvSpPr>
        <p:spPr>
          <a:xfrm>
            <a:off x="4754879" y="938592"/>
            <a:ext cx="40690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Gaussian Naive Bayes</a:t>
            </a:r>
          </a:p>
        </p:txBody>
      </p:sp>
      <p:sp>
        <p:nvSpPr>
          <p:cNvPr id="180" name="Text 9"/>
          <p:cNvSpPr txBox="1"/>
          <p:nvPr/>
        </p:nvSpPr>
        <p:spPr>
          <a:xfrm>
            <a:off x="4800600" y="1623744"/>
            <a:ext cx="3977640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Assumes feature independence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Probabilistic classification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CV F1: 0.795 | AUC: 0.981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Strong generalization, fastest</a:t>
            </a:r>
          </a:p>
        </p:txBody>
      </p:sp>
      <p:sp>
        <p:nvSpPr>
          <p:cNvPr id="185" name="Shape 14"/>
          <p:cNvSpPr/>
          <p:nvPr/>
        </p:nvSpPr>
        <p:spPr>
          <a:xfrm>
            <a:off x="2301240" y="2834639"/>
            <a:ext cx="4251960" cy="1920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3500" dist="25400" dir="8100000" rotWithShape="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86" name="Shape 15"/>
          <p:cNvSpPr/>
          <p:nvPr/>
        </p:nvSpPr>
        <p:spPr>
          <a:xfrm>
            <a:off x="2301240" y="2834639"/>
            <a:ext cx="4251960" cy="411481"/>
          </a:xfrm>
          <a:prstGeom prst="rect">
            <a:avLst/>
          </a:prstGeom>
          <a:solidFill>
            <a:srgbClr val="1A7B5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" name="Text 16"/>
          <p:cNvSpPr txBox="1"/>
          <p:nvPr/>
        </p:nvSpPr>
        <p:spPr>
          <a:xfrm>
            <a:off x="2392679" y="2950272"/>
            <a:ext cx="40690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r>
              <a:t>Random Forest (PCA)</a:t>
            </a:r>
          </a:p>
        </p:txBody>
      </p:sp>
      <p:sp>
        <p:nvSpPr>
          <p:cNvPr id="188" name="Text 17"/>
          <p:cNvSpPr txBox="1"/>
          <p:nvPr/>
        </p:nvSpPr>
        <p:spPr>
          <a:xfrm>
            <a:off x="2438400" y="3635424"/>
            <a:ext cx="3977640" cy="721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200 estimators, PCA 10 components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CV F1: 0.854 | AUC: 0.988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Most robust to outliers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4155"/>
                </a:solidFill>
              </a:defRPr>
            </a:pPr>
            <a:r>
              <a:t>Used for health gauge + EWMA features</a:t>
            </a:r>
          </a:p>
        </p:txBody>
      </p:sp>
      <p:sp>
        <p:nvSpPr>
          <p:cNvPr id="189" name="Shape 18"/>
          <p:cNvSpPr/>
          <p:nvPr/>
        </p:nvSpPr>
        <p:spPr>
          <a:xfrm>
            <a:off x="182879" y="4800600"/>
            <a:ext cx="8778242" cy="27432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Text 19"/>
          <p:cNvSpPr txBox="1"/>
          <p:nvPr/>
        </p:nvSpPr>
        <p:spPr>
          <a:xfrm>
            <a:off x="320040" y="4824905"/>
            <a:ext cx="8503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00A896"/>
                </a:solidFill>
              </a:defRPr>
            </a:lvl1pPr>
          </a:lstStyle>
          <a:p>
            <a:r>
              <a:t>Streamlit App  |  4 tabs: Input &amp; Predict  •  Why This Prediction? (DT)  •  Health Gauge (RF)  •  Model Comparison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Results — ROC Curves &amp; Confusion Matrices</a:t>
            </a: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00" y="740834"/>
            <a:ext cx="6027959" cy="2402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" descr="Image"/>
          <p:cNvPicPr>
            <a:picLocks noChangeAspect="1"/>
          </p:cNvPicPr>
          <p:nvPr/>
        </p:nvPicPr>
        <p:blipFill>
          <a:blip r:embed="rId3"/>
          <a:srcRect r="3474"/>
          <a:stretch>
            <a:fillRect/>
          </a:stretch>
        </p:blipFill>
        <p:spPr>
          <a:xfrm>
            <a:off x="6343073" y="740834"/>
            <a:ext cx="2747641" cy="3609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3" y="3197986"/>
            <a:ext cx="6317332" cy="18202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0" name="Text 1"/>
          <p:cNvSpPr txBox="1"/>
          <p:nvPr/>
        </p:nvSpPr>
        <p:spPr>
          <a:xfrm>
            <a:off x="411480" y="150212"/>
            <a:ext cx="841248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 b="1">
                <a:solidFill>
                  <a:srgbClr val="FFFFFF"/>
                </a:solidFill>
              </a:defRPr>
            </a:lvl1pPr>
          </a:lstStyle>
          <a:p>
            <a:r>
              <a:t>Results — Learning Curves &amp; Feature Importances</a:t>
            </a:r>
          </a:p>
        </p:txBody>
      </p:sp>
      <p:pic>
        <p:nvPicPr>
          <p:cNvPr id="23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77240"/>
            <a:ext cx="8869681" cy="4160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Text 1"/>
          <p:cNvSpPr txBox="1"/>
          <p:nvPr/>
        </p:nvSpPr>
        <p:spPr>
          <a:xfrm>
            <a:off x="411480" y="124068"/>
            <a:ext cx="841248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Results — Model Comparison</a:t>
            </a:r>
          </a:p>
        </p:txBody>
      </p:sp>
      <p:graphicFrame>
        <p:nvGraphicFramePr>
          <p:cNvPr id="235" name="Table 0"/>
          <p:cNvGraphicFramePr/>
          <p:nvPr>
            <p:extLst>
              <p:ext uri="{D42A27DB-BD31-4B8C-83A1-F6EECF244321}">
                <p14:modId xmlns:p14="http://schemas.microsoft.com/office/powerpoint/2010/main" val="742022743"/>
              </p:ext>
            </p:extLst>
          </p:nvPr>
        </p:nvGraphicFramePr>
        <p:xfrm>
          <a:off x="182879" y="822960"/>
          <a:ext cx="8686800" cy="23774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CV F1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CV AUC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Logistic Regression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0.831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0.989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0.661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0.990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0.544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0.843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Balanced, fast, interpretable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Gaussian Naive Bayes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0.795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0.981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0.613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0.988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0.483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0.837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Strong generalization, fastest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Random Forest (PCA)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0.854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0.988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0.716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0.987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0.727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4155"/>
                          </a:solidFill>
                        </a:rPr>
                        <a:t>0.705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 dirty="0">
                          <a:solidFill>
                            <a:srgbClr val="334155"/>
                          </a:solidFill>
                        </a:rPr>
                        <a:t>Most robust — best CV F1 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D1D5DB"/>
                      </a:solidFill>
                    </a:lnL>
                    <a:lnR w="12700">
                      <a:solidFill>
                        <a:srgbClr val="D1D5DB"/>
                      </a:solidFill>
                    </a:lnR>
                    <a:lnT w="12700">
                      <a:solidFill>
                        <a:srgbClr val="D1D5DB"/>
                      </a:solidFill>
                    </a:lnT>
                    <a:lnB w="12700">
                      <a:solidFill>
                        <a:srgbClr val="D1D5DB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6" name="Text 2"/>
          <p:cNvSpPr txBox="1"/>
          <p:nvPr/>
        </p:nvSpPr>
        <p:spPr>
          <a:xfrm>
            <a:off x="228599" y="3761740"/>
            <a:ext cx="86868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i="1">
                <a:solidFill>
                  <a:srgbClr val="64748B"/>
                </a:solidFill>
              </a:defRPr>
            </a:lvl1pPr>
          </a:lstStyle>
          <a:p>
            <a:r>
              <a:t>★ F1 scores from 5-fold cross-validated evaluation. All models AUC ≥ 0.98 — near-perfect discrimination. RF recommended for deployment.</a:t>
            </a:r>
          </a:p>
        </p:txBody>
      </p:sp>
      <p:sp>
        <p:nvSpPr>
          <p:cNvPr id="237" name="Shape 3"/>
          <p:cNvSpPr/>
          <p:nvPr/>
        </p:nvSpPr>
        <p:spPr>
          <a:xfrm>
            <a:off x="223022" y="4206240"/>
            <a:ext cx="2560321" cy="82296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8" name="Text 4"/>
          <p:cNvSpPr txBox="1"/>
          <p:nvPr/>
        </p:nvSpPr>
        <p:spPr>
          <a:xfrm>
            <a:off x="223022" y="4195318"/>
            <a:ext cx="256032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0.854</a:t>
            </a:r>
          </a:p>
        </p:txBody>
      </p:sp>
      <p:sp>
        <p:nvSpPr>
          <p:cNvPr id="239" name="Text 5"/>
          <p:cNvSpPr txBox="1"/>
          <p:nvPr/>
        </p:nvSpPr>
        <p:spPr>
          <a:xfrm>
            <a:off x="223022" y="4649514"/>
            <a:ext cx="25603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E9C46A"/>
                </a:solidFill>
              </a:defRPr>
            </a:pPr>
            <a:r>
              <a:t>Best CV F1</a:t>
            </a:r>
          </a:p>
          <a:p>
            <a:pPr algn="ctr">
              <a:defRPr sz="1000">
                <a:solidFill>
                  <a:srgbClr val="E9C46A"/>
                </a:solidFill>
              </a:defRPr>
            </a:pPr>
            <a:r>
              <a:t>(Random Forest)</a:t>
            </a:r>
          </a:p>
        </p:txBody>
      </p:sp>
      <p:sp>
        <p:nvSpPr>
          <p:cNvPr id="240" name="Shape 6"/>
          <p:cNvSpPr/>
          <p:nvPr/>
        </p:nvSpPr>
        <p:spPr>
          <a:xfrm>
            <a:off x="3240542" y="4206240"/>
            <a:ext cx="2560321" cy="82296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Text 7"/>
          <p:cNvSpPr txBox="1"/>
          <p:nvPr/>
        </p:nvSpPr>
        <p:spPr>
          <a:xfrm>
            <a:off x="3240542" y="4195318"/>
            <a:ext cx="256032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0.990</a:t>
            </a:r>
          </a:p>
        </p:txBody>
      </p:sp>
      <p:sp>
        <p:nvSpPr>
          <p:cNvPr id="242" name="Text 8"/>
          <p:cNvSpPr txBox="1"/>
          <p:nvPr/>
        </p:nvSpPr>
        <p:spPr>
          <a:xfrm>
            <a:off x="3240542" y="4649514"/>
            <a:ext cx="25603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E9C46A"/>
                </a:solidFill>
              </a:defRPr>
            </a:pPr>
            <a:r>
              <a:t>Best AUC</a:t>
            </a:r>
          </a:p>
          <a:p>
            <a:pPr algn="ctr">
              <a:defRPr sz="1000">
                <a:solidFill>
                  <a:srgbClr val="E9C46A"/>
                </a:solidFill>
              </a:defRPr>
            </a:pPr>
            <a:r>
              <a:t>(Logistic Reg)</a:t>
            </a:r>
          </a:p>
        </p:txBody>
      </p:sp>
      <p:sp>
        <p:nvSpPr>
          <p:cNvPr id="243" name="Shape 9"/>
          <p:cNvSpPr/>
          <p:nvPr/>
        </p:nvSpPr>
        <p:spPr>
          <a:xfrm>
            <a:off x="6258062" y="4206240"/>
            <a:ext cx="2560321" cy="82296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Text 10"/>
          <p:cNvSpPr txBox="1"/>
          <p:nvPr/>
        </p:nvSpPr>
        <p:spPr>
          <a:xfrm>
            <a:off x="6258062" y="4195318"/>
            <a:ext cx="256032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0A89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~99%</a:t>
            </a:r>
          </a:p>
        </p:txBody>
      </p:sp>
      <p:sp>
        <p:nvSpPr>
          <p:cNvPr id="245" name="Text 11"/>
          <p:cNvSpPr txBox="1"/>
          <p:nvPr/>
        </p:nvSpPr>
        <p:spPr>
          <a:xfrm>
            <a:off x="6258062" y="4649514"/>
            <a:ext cx="25603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E9C46A"/>
                </a:solidFill>
              </a:defRPr>
            </a:pPr>
            <a:r>
              <a:t>Accuracy on</a:t>
            </a:r>
          </a:p>
          <a:p>
            <a:pPr algn="ctr">
              <a:defRPr sz="1000">
                <a:solidFill>
                  <a:srgbClr val="E9C46A"/>
                </a:solidFill>
              </a:defRPr>
            </a:pPr>
            <a:r>
              <a:t>Normal class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Text 1"/>
          <p:cNvSpPr txBox="1"/>
          <p:nvPr/>
        </p:nvSpPr>
        <p:spPr>
          <a:xfrm>
            <a:off x="411480" y="124068"/>
            <a:ext cx="841248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References</a:t>
            </a:r>
          </a:p>
        </p:txBody>
      </p:sp>
      <p:sp>
        <p:nvSpPr>
          <p:cNvPr id="249" name="Shape 2"/>
          <p:cNvSpPr/>
          <p:nvPr/>
        </p:nvSpPr>
        <p:spPr>
          <a:xfrm>
            <a:off x="274320" y="822960"/>
            <a:ext cx="8595360" cy="548641"/>
          </a:xfrm>
          <a:prstGeom prst="rect">
            <a:avLst/>
          </a:prstGeom>
          <a:solidFill>
            <a:srgbClr val="0D20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0" name="Shape 3"/>
          <p:cNvSpPr/>
          <p:nvPr/>
        </p:nvSpPr>
        <p:spPr>
          <a:xfrm>
            <a:off x="274320" y="822960"/>
            <a:ext cx="54865" cy="54864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Text 4"/>
          <p:cNvSpPr txBox="1"/>
          <p:nvPr/>
        </p:nvSpPr>
        <p:spPr>
          <a:xfrm>
            <a:off x="438911" y="1011858"/>
            <a:ext cx="8321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r>
              <a:t>[1] Saxena, A. &amp; Goebel, K. (2008). Turbofan Engine Degradation Simulation Data Set. NASA Ames Prognostics Data Repository.</a:t>
            </a:r>
          </a:p>
        </p:txBody>
      </p:sp>
      <p:sp>
        <p:nvSpPr>
          <p:cNvPr id="252" name="Shape 5"/>
          <p:cNvSpPr/>
          <p:nvPr/>
        </p:nvSpPr>
        <p:spPr>
          <a:xfrm>
            <a:off x="274320" y="1481327"/>
            <a:ext cx="8595360" cy="548642"/>
          </a:xfrm>
          <a:prstGeom prst="rect">
            <a:avLst/>
          </a:prstGeom>
          <a:solidFill>
            <a:srgbClr val="0D20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3" name="Shape 6"/>
          <p:cNvSpPr/>
          <p:nvPr/>
        </p:nvSpPr>
        <p:spPr>
          <a:xfrm>
            <a:off x="274320" y="1481327"/>
            <a:ext cx="54865" cy="548642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Text 7"/>
          <p:cNvSpPr txBox="1"/>
          <p:nvPr/>
        </p:nvSpPr>
        <p:spPr>
          <a:xfrm>
            <a:off x="438911" y="1670226"/>
            <a:ext cx="8321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r>
              <a:t>[2] Saxena, A. et al. (2008). Damage Propagation Modeling for Aircraft Engine Run-to-Failure Simulation. ICSPHM 2008.</a:t>
            </a:r>
          </a:p>
        </p:txBody>
      </p:sp>
      <p:sp>
        <p:nvSpPr>
          <p:cNvPr id="255" name="Shape 8"/>
          <p:cNvSpPr/>
          <p:nvPr/>
        </p:nvSpPr>
        <p:spPr>
          <a:xfrm>
            <a:off x="274320" y="2139695"/>
            <a:ext cx="8595360" cy="548641"/>
          </a:xfrm>
          <a:prstGeom prst="rect">
            <a:avLst/>
          </a:prstGeom>
          <a:solidFill>
            <a:srgbClr val="0D20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Shape 9"/>
          <p:cNvSpPr/>
          <p:nvPr/>
        </p:nvSpPr>
        <p:spPr>
          <a:xfrm>
            <a:off x="274320" y="2139695"/>
            <a:ext cx="54865" cy="54864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7" name="Text 10"/>
          <p:cNvSpPr txBox="1"/>
          <p:nvPr/>
        </p:nvSpPr>
        <p:spPr>
          <a:xfrm>
            <a:off x="438911" y="2328594"/>
            <a:ext cx="8321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r>
              <a:t>[3] Pedregosa, F. et al. (2011). Scikit-learn: Machine Learning in Python. JMLR 12:2825–2830.</a:t>
            </a:r>
          </a:p>
        </p:txBody>
      </p:sp>
      <p:sp>
        <p:nvSpPr>
          <p:cNvPr id="258" name="Shape 11"/>
          <p:cNvSpPr/>
          <p:nvPr/>
        </p:nvSpPr>
        <p:spPr>
          <a:xfrm>
            <a:off x="274320" y="2798064"/>
            <a:ext cx="8595360" cy="548641"/>
          </a:xfrm>
          <a:prstGeom prst="rect">
            <a:avLst/>
          </a:prstGeom>
          <a:solidFill>
            <a:srgbClr val="0D20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Shape 12"/>
          <p:cNvSpPr/>
          <p:nvPr/>
        </p:nvSpPr>
        <p:spPr>
          <a:xfrm>
            <a:off x="274320" y="2798064"/>
            <a:ext cx="54865" cy="54864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0" name="Text 13"/>
          <p:cNvSpPr txBox="1"/>
          <p:nvPr/>
        </p:nvSpPr>
        <p:spPr>
          <a:xfrm>
            <a:off x="438911" y="2986962"/>
            <a:ext cx="8321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r>
              <a:t>[4] McKinney, W. (2010). Data Structures for Statistical Computing in Python. SciPy 2010.</a:t>
            </a:r>
          </a:p>
        </p:txBody>
      </p:sp>
      <p:sp>
        <p:nvSpPr>
          <p:cNvPr id="261" name="Shape 14"/>
          <p:cNvSpPr/>
          <p:nvPr/>
        </p:nvSpPr>
        <p:spPr>
          <a:xfrm>
            <a:off x="274320" y="3456432"/>
            <a:ext cx="8595360" cy="548641"/>
          </a:xfrm>
          <a:prstGeom prst="rect">
            <a:avLst/>
          </a:prstGeom>
          <a:solidFill>
            <a:srgbClr val="0D20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Shape 15"/>
          <p:cNvSpPr/>
          <p:nvPr/>
        </p:nvSpPr>
        <p:spPr>
          <a:xfrm>
            <a:off x="274320" y="3456432"/>
            <a:ext cx="54865" cy="54864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3" name="Text 16"/>
          <p:cNvSpPr txBox="1"/>
          <p:nvPr/>
        </p:nvSpPr>
        <p:spPr>
          <a:xfrm>
            <a:off x="438911" y="3645330"/>
            <a:ext cx="8321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r>
              <a:t>[5] Streamlit Inc. (2023). Streamlit — A faster way to build and share data apps. https://streamlit.io</a:t>
            </a:r>
          </a:p>
        </p:txBody>
      </p:sp>
      <p:sp>
        <p:nvSpPr>
          <p:cNvPr id="264" name="Shape 17"/>
          <p:cNvSpPr/>
          <p:nvPr/>
        </p:nvSpPr>
        <p:spPr>
          <a:xfrm>
            <a:off x="274320" y="4114800"/>
            <a:ext cx="8595360" cy="548641"/>
          </a:xfrm>
          <a:prstGeom prst="rect">
            <a:avLst/>
          </a:prstGeom>
          <a:solidFill>
            <a:srgbClr val="0D203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5" name="Shape 18"/>
          <p:cNvSpPr/>
          <p:nvPr/>
        </p:nvSpPr>
        <p:spPr>
          <a:xfrm>
            <a:off x="274320" y="4114800"/>
            <a:ext cx="54865" cy="548641"/>
          </a:xfrm>
          <a:prstGeom prst="rect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6" name="Text 19"/>
          <p:cNvSpPr txBox="1"/>
          <p:nvPr/>
        </p:nvSpPr>
        <p:spPr>
          <a:xfrm>
            <a:off x="438911" y="4303698"/>
            <a:ext cx="8321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r>
              <a:t>[6] PCA for Predictive Maintenance — Towards Data Science, 2022.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1075</Words>
  <Application>Microsoft Office PowerPoint</Application>
  <PresentationFormat>On-screen Show (16:9)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Arjun Sharma</dc:creator>
  <cp:lastModifiedBy>Arjun Sharma</cp:lastModifiedBy>
  <cp:revision>3</cp:revision>
  <dcterms:modified xsi:type="dcterms:W3CDTF">2026-04-22T06:33:57Z</dcterms:modified>
</cp:coreProperties>
</file>